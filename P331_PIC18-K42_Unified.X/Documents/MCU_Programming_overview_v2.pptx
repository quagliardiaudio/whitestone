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3" r:id="rId7"/>
    <p:sldId id="269" r:id="rId8"/>
    <p:sldId id="274" r:id="rId9"/>
    <p:sldId id="261" r:id="rId10"/>
    <p:sldId id="275" r:id="rId11"/>
    <p:sldId id="264" r:id="rId12"/>
    <p:sldId id="276" r:id="rId13"/>
    <p:sldId id="277" r:id="rId14"/>
    <p:sldId id="265" r:id="rId15"/>
    <p:sldId id="278" r:id="rId16"/>
    <p:sldId id="266" r:id="rId17"/>
    <p:sldId id="267" r:id="rId18"/>
    <p:sldId id="268" r:id="rId19"/>
    <p:sldId id="270" r:id="rId20"/>
    <p:sldId id="271" r:id="rId21"/>
    <p:sldId id="272" r:id="rId22"/>
    <p:sldId id="273" r:id="rId23"/>
    <p:sldId id="279" r:id="rId24"/>
    <p:sldId id="280" r:id="rId25"/>
    <p:sldId id="281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50" autoAdjust="0"/>
  </p:normalViewPr>
  <p:slideViewPr>
    <p:cSldViewPr>
      <p:cViewPr varScale="1">
        <p:scale>
          <a:sx n="82" d="100"/>
          <a:sy n="82" d="100"/>
        </p:scale>
        <p:origin x="-129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E16DA-3E2D-4145-BD53-DA9D480D5AB1}" type="datetimeFigureOut">
              <a:rPr lang="en-US" smtClean="0"/>
              <a:pPr/>
              <a:t>11/11/2017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F653D-4D3E-44F4-AAC9-7346FB03D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E16DA-3E2D-4145-BD53-DA9D480D5AB1}" type="datetimeFigureOut">
              <a:rPr lang="en-US" smtClean="0"/>
              <a:pPr/>
              <a:t>11/11/2017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F653D-4D3E-44F4-AAC9-7346FB03D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E16DA-3E2D-4145-BD53-DA9D480D5AB1}" type="datetimeFigureOut">
              <a:rPr lang="en-US" smtClean="0"/>
              <a:pPr/>
              <a:t>11/11/2017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F653D-4D3E-44F4-AAC9-7346FB03D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E16DA-3E2D-4145-BD53-DA9D480D5AB1}" type="datetimeFigureOut">
              <a:rPr lang="en-US" smtClean="0"/>
              <a:pPr/>
              <a:t>11/11/2017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F653D-4D3E-44F4-AAC9-7346FB03D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E16DA-3E2D-4145-BD53-DA9D480D5AB1}" type="datetimeFigureOut">
              <a:rPr lang="en-US" smtClean="0"/>
              <a:pPr/>
              <a:t>11/11/2017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F653D-4D3E-44F4-AAC9-7346FB03D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E16DA-3E2D-4145-BD53-DA9D480D5AB1}" type="datetimeFigureOut">
              <a:rPr lang="en-US" smtClean="0"/>
              <a:pPr/>
              <a:t>11/11/2017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F653D-4D3E-44F4-AAC9-7346FB03D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E16DA-3E2D-4145-BD53-DA9D480D5AB1}" type="datetimeFigureOut">
              <a:rPr lang="en-US" smtClean="0"/>
              <a:pPr/>
              <a:t>11/11/2017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F653D-4D3E-44F4-AAC9-7346FB03D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E16DA-3E2D-4145-BD53-DA9D480D5AB1}" type="datetimeFigureOut">
              <a:rPr lang="en-US" smtClean="0"/>
              <a:pPr/>
              <a:t>11/11/2017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F653D-4D3E-44F4-AAC9-7346FB03D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E16DA-3E2D-4145-BD53-DA9D480D5AB1}" type="datetimeFigureOut">
              <a:rPr lang="en-US" smtClean="0"/>
              <a:pPr/>
              <a:t>11/11/2017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F653D-4D3E-44F4-AAC9-7346FB03D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E16DA-3E2D-4145-BD53-DA9D480D5AB1}" type="datetimeFigureOut">
              <a:rPr lang="en-US" smtClean="0"/>
              <a:pPr/>
              <a:t>11/11/2017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F653D-4D3E-44F4-AAC9-7346FB03D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E16DA-3E2D-4145-BD53-DA9D480D5AB1}" type="datetimeFigureOut">
              <a:rPr lang="en-US" smtClean="0"/>
              <a:pPr/>
              <a:t>11/11/2017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F653D-4D3E-44F4-AAC9-7346FB03D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7E16DA-3E2D-4145-BD53-DA9D480D5AB1}" type="datetimeFigureOut">
              <a:rPr lang="en-US" smtClean="0"/>
              <a:pPr/>
              <a:t>11/11/2017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F653D-4D3E-44F4-AAC9-7346FB03D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xar.com/content/document.ashx?id=20785" TargetMode="External"/><Relationship Id="rId2" Type="http://schemas.openxmlformats.org/officeDocument/2006/relationships/hyperlink" Target="https://www.digikey.com/products/en?keywords=1016-1723-5-ND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P331 GPIO expansion chips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schematic overview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P331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Uses GPIO expansion chips (XRA1403, by </a:t>
            </a:r>
            <a:r>
              <a:rPr lang="en-US" dirty="0" err="1" smtClean="0"/>
              <a:t>Exar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8 total</a:t>
            </a:r>
          </a:p>
          <a:p>
            <a:pPr lvl="2"/>
            <a:r>
              <a:rPr lang="en-US" dirty="0" smtClean="0"/>
              <a:t>4 for left channel</a:t>
            </a:r>
          </a:p>
          <a:p>
            <a:pPr lvl="2"/>
            <a:r>
              <a:rPr lang="en-US" dirty="0" smtClean="0"/>
              <a:t>4 for right channel</a:t>
            </a:r>
          </a:p>
          <a:p>
            <a:pPr lvl="2"/>
            <a:r>
              <a:rPr lang="en-US" dirty="0" smtClean="0"/>
              <a:t>For each channel, 1 chip is for front-panel input (mostly); remaining three chips are for output to control relays (7-segment LED is optional, handy for debug if wished to be implemented)</a:t>
            </a:r>
          </a:p>
          <a:p>
            <a:pPr lvl="1"/>
            <a:r>
              <a:rPr lang="en-US" dirty="0" smtClean="0">
                <a:hlinkClick r:id="rId2"/>
              </a:rPr>
              <a:t>https://www.digikey.com/products/en?keywords=1016-1723-5-ND</a:t>
            </a:r>
            <a:endParaRPr lang="en-US" dirty="0" smtClean="0"/>
          </a:p>
          <a:p>
            <a:pPr lvl="2"/>
            <a:r>
              <a:rPr lang="en-US" dirty="0" smtClean="0"/>
              <a:t>Datasheet located here:</a:t>
            </a:r>
          </a:p>
          <a:p>
            <a:pPr lvl="2"/>
            <a:r>
              <a:rPr lang="en-US" dirty="0" smtClean="0">
                <a:hlinkClick r:id="rId3"/>
              </a:rPr>
              <a:t>https://www.exar.com/content/document.ashx?id=20785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Each GPIO expansion chip has 16 signals (configurable as input or output using SPI bus commands listed in datasheet)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762000" y="5334000"/>
            <a:ext cx="5257800" cy="1066800"/>
          </a:xfrm>
          <a:prstGeom prst="roundRect">
            <a:avLst/>
          </a:prstGeom>
          <a:solidFill>
            <a:srgbClr val="FFFF00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Because of so many GPIO expansion chips (mostly controlling relays and reading input switch positions), chip-selects are implemented in the design</a:t>
            </a:r>
          </a:p>
          <a:p>
            <a:pPr lvl="1"/>
            <a:r>
              <a:rPr lang="en-US" dirty="0" smtClean="0"/>
              <a:t>Implemented on PORT A of PIC</a:t>
            </a:r>
          </a:p>
          <a:p>
            <a:pPr lvl="1"/>
            <a:r>
              <a:rPr lang="en-US" dirty="0" smtClean="0"/>
              <a:t>Chip selects should be activated first, then data/commands are issues on SPI bus per XRA1403IG24-F Datasheet</a:t>
            </a:r>
          </a:p>
          <a:p>
            <a:pPr lvl="1"/>
            <a:r>
              <a:rPr lang="en-US" dirty="0" smtClean="0"/>
              <a:t>Note: we use “CS” for “chip select”</a:t>
            </a:r>
          </a:p>
          <a:p>
            <a:pPr lvl="1"/>
            <a:r>
              <a:rPr lang="en-US" dirty="0" smtClean="0"/>
              <a:t>Only one chip select active at a time…. Expansion chips are not SPI serial daisy-chained…</a:t>
            </a:r>
          </a:p>
          <a:p>
            <a:pPr lvl="1"/>
            <a:r>
              <a:rPr lang="en-US" dirty="0" smtClean="0"/>
              <a:t>CHIPSELECTS ARE ACTIVE LOW</a:t>
            </a:r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Micro Controller Unit (MCU) PIC chip close up PORTA for chip selects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229600" cy="45259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676400"/>
            <a:ext cx="66294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ight Brace 4"/>
          <p:cNvSpPr/>
          <p:nvPr/>
        </p:nvSpPr>
        <p:spPr>
          <a:xfrm>
            <a:off x="7010400" y="2133600"/>
            <a:ext cx="533400" cy="533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Brace 5"/>
          <p:cNvSpPr/>
          <p:nvPr/>
        </p:nvSpPr>
        <p:spPr>
          <a:xfrm>
            <a:off x="7010400" y="2819400"/>
            <a:ext cx="533400" cy="533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467600" y="198120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CS 0 through 3</a:t>
            </a:r>
          </a:p>
          <a:p>
            <a:r>
              <a:rPr lang="en-US" dirty="0" smtClean="0"/>
              <a:t>LEFT channel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467600" y="2858869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CS 4 through 7</a:t>
            </a:r>
          </a:p>
          <a:p>
            <a:r>
              <a:rPr lang="en-US" dirty="0" smtClean="0"/>
              <a:t>RIGHT channel 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304800"/>
            <a:ext cx="7103806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Oval 8"/>
          <p:cNvSpPr/>
          <p:nvPr/>
        </p:nvSpPr>
        <p:spPr>
          <a:xfrm>
            <a:off x="6324600" y="457200"/>
            <a:ext cx="1219200" cy="1066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324600" y="1524000"/>
            <a:ext cx="1219200" cy="1066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85800" y="457200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CHIP SELECTS on MCU schematic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33400" y="3505200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PIC 18F26K20</a:t>
            </a:r>
            <a:endParaRPr lang="en-US" dirty="0"/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1143000" y="2819400"/>
            <a:ext cx="381000" cy="7620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543800" y="60960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CS 0 through 3</a:t>
            </a:r>
          </a:p>
          <a:p>
            <a:r>
              <a:rPr lang="en-US" dirty="0" smtClean="0"/>
              <a:t>LEFT channel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7543800" y="167640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CS 4 through 7</a:t>
            </a:r>
          </a:p>
          <a:p>
            <a:r>
              <a:rPr lang="en-US" dirty="0" smtClean="0"/>
              <a:t>RIGHT channel 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905000"/>
            <a:ext cx="6831371" cy="3524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Oval 5"/>
          <p:cNvSpPr/>
          <p:nvPr/>
        </p:nvSpPr>
        <p:spPr>
          <a:xfrm>
            <a:off x="2557821" y="1905000"/>
            <a:ext cx="1981200" cy="1676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282221" y="205740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CS 0 through 3</a:t>
            </a:r>
          </a:p>
          <a:p>
            <a:r>
              <a:rPr lang="en-US" dirty="0" smtClean="0"/>
              <a:t>LEFT channel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282221" y="388620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CS 4 through 7</a:t>
            </a:r>
          </a:p>
          <a:p>
            <a:r>
              <a:rPr lang="en-US" dirty="0" smtClean="0"/>
              <a:t>RIGHT channel 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4615221" y="2133600"/>
            <a:ext cx="990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2557821" y="3429000"/>
            <a:ext cx="1981200" cy="16764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615221" y="3657600"/>
            <a:ext cx="990600" cy="6096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85800" y="457200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CHIP SELECTS on MCU schematic Bus connection to rest of PCB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295400" y="5715000"/>
            <a:ext cx="701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GPIO expansion chips are addressed one-at-a-time (i.e., only one chip select active at any one time).  Expansion chips are NOT serially daisy-chained 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GPIO Expansion chips (logical, 1 channel shown)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67" name="Picture 19"/>
          <p:cNvPicPr>
            <a:picLocks noChangeAspect="1" noChangeArrowheads="1"/>
          </p:cNvPicPr>
          <p:nvPr/>
        </p:nvPicPr>
        <p:blipFill>
          <a:blip r:embed="rId2" cstate="print"/>
          <a:srcRect l="15714" t="15238" r="13810" b="9333"/>
          <a:stretch>
            <a:fillRect/>
          </a:stretch>
        </p:blipFill>
        <p:spPr bwMode="auto">
          <a:xfrm>
            <a:off x="609600" y="1143000"/>
            <a:ext cx="8087976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ln>
            <a:noFill/>
          </a:ln>
        </p:spPr>
        <p:txBody>
          <a:bodyPr>
            <a:normAutofit fontScale="90000"/>
          </a:bodyPr>
          <a:lstStyle/>
          <a:p>
            <a:r>
              <a:rPr lang="en-US" sz="3600" dirty="0" smtClean="0"/>
              <a:t>Lets look at the inputs from front panel first…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67" name="Picture 19"/>
          <p:cNvPicPr>
            <a:picLocks noChangeAspect="1" noChangeArrowheads="1"/>
          </p:cNvPicPr>
          <p:nvPr/>
        </p:nvPicPr>
        <p:blipFill>
          <a:blip r:embed="rId2" cstate="print"/>
          <a:srcRect l="15714" t="15238" r="13810" b="9333"/>
          <a:stretch>
            <a:fillRect/>
          </a:stretch>
        </p:blipFill>
        <p:spPr bwMode="auto">
          <a:xfrm>
            <a:off x="609600" y="1143000"/>
            <a:ext cx="8087976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ounded Rectangle 4"/>
          <p:cNvSpPr/>
          <p:nvPr/>
        </p:nvSpPr>
        <p:spPr>
          <a:xfrm>
            <a:off x="3048000" y="762000"/>
            <a:ext cx="6096000" cy="6096000"/>
          </a:xfrm>
          <a:prstGeom prst="roundRect">
            <a:avLst/>
          </a:prstGeom>
          <a:solidFill>
            <a:srgbClr val="FFFFFF">
              <a:alpha val="69020"/>
            </a:srgb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609600" y="2743200"/>
            <a:ext cx="6096000" cy="4114800"/>
          </a:xfrm>
          <a:prstGeom prst="roundRect">
            <a:avLst/>
          </a:prstGeom>
          <a:solidFill>
            <a:srgbClr val="FFFFFF">
              <a:alpha val="69020"/>
            </a:srgb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457200" y="990600"/>
            <a:ext cx="2895600" cy="2057400"/>
          </a:xfrm>
          <a:prstGeom prst="round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1143000"/>
          </a:xfrm>
        </p:spPr>
        <p:txBody>
          <a:bodyPr>
            <a:noAutofit/>
          </a:bodyPr>
          <a:lstStyle/>
          <a:p>
            <a:r>
              <a:rPr lang="en-US" sz="2000" dirty="0" err="1" smtClean="0"/>
              <a:t>Exar</a:t>
            </a:r>
            <a:r>
              <a:rPr lang="en-US" sz="2000" dirty="0" smtClean="0"/>
              <a:t> GPIO expansion chip for Front Panel user Input on front panel switches </a:t>
            </a:r>
            <a:br>
              <a:rPr lang="en-US" sz="2000" dirty="0" smtClean="0"/>
            </a:br>
            <a:r>
              <a:rPr lang="en-US" sz="2000" dirty="0" smtClean="0"/>
              <a:t>(Line Amp, Relay Drivers : </a:t>
            </a:r>
            <a:r>
              <a:rPr lang="en-US" sz="2000" dirty="0" err="1" smtClean="0"/>
              <a:t>SPI_GPIOs_RELAY_DRIVERS.SchDoc</a:t>
            </a:r>
            <a:r>
              <a:rPr lang="en-US" sz="2000" dirty="0" smtClean="0"/>
              <a:t> schematic page)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1524000"/>
          </a:xfrm>
        </p:spPr>
        <p:txBody>
          <a:bodyPr>
            <a:normAutofit fontScale="55000" lnSpcReduction="20000"/>
          </a:bodyPr>
          <a:lstStyle/>
          <a:p>
            <a:r>
              <a:rPr lang="en-US" dirty="0" smtClean="0"/>
              <a:t>Note (logical) Ref Designators shown in these images are not what is (physically) silkscreened on PCB or in the physical PDF of schematic</a:t>
            </a:r>
          </a:p>
          <a:p>
            <a:endParaRPr lang="en-US" dirty="0" smtClean="0"/>
          </a:p>
          <a:p>
            <a:r>
              <a:rPr lang="en-US" dirty="0" smtClean="0"/>
              <a:t>CS”A”  (Chip Select “A”) is either CS 0 (Left Channel) or CS4 (Right Channel) on PORTA of PIC, when design is (physically) expanded into two-channel design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514600"/>
            <a:ext cx="851941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2" name="Group 11"/>
          <p:cNvGrpSpPr/>
          <p:nvPr/>
        </p:nvGrpSpPr>
        <p:grpSpPr>
          <a:xfrm>
            <a:off x="3810000" y="3886199"/>
            <a:ext cx="3276600" cy="2851841"/>
            <a:chOff x="3810000" y="3886199"/>
            <a:chExt cx="3276600" cy="2851841"/>
          </a:xfrm>
        </p:grpSpPr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886200" y="3886199"/>
              <a:ext cx="3200400" cy="2851841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7" name="Oval 6"/>
            <p:cNvSpPr/>
            <p:nvPr/>
          </p:nvSpPr>
          <p:spPr>
            <a:xfrm>
              <a:off x="3810000" y="3886200"/>
              <a:ext cx="990600" cy="3048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3810000" y="5791200"/>
              <a:ext cx="990600" cy="304800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Straight Arrow Connector 9"/>
          <p:cNvCxnSpPr/>
          <p:nvPr/>
        </p:nvCxnSpPr>
        <p:spPr>
          <a:xfrm>
            <a:off x="6172200" y="2438400"/>
            <a:ext cx="12192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3600" dirty="0" smtClean="0"/>
              <a:t>Next bank… outputs (and one input)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67" name="Picture 19"/>
          <p:cNvPicPr>
            <a:picLocks noChangeAspect="1" noChangeArrowheads="1"/>
          </p:cNvPicPr>
          <p:nvPr/>
        </p:nvPicPr>
        <p:blipFill>
          <a:blip r:embed="rId2" cstate="print"/>
          <a:srcRect l="15714" t="15238" r="13810" b="9333"/>
          <a:stretch>
            <a:fillRect/>
          </a:stretch>
        </p:blipFill>
        <p:spPr bwMode="auto">
          <a:xfrm>
            <a:off x="609600" y="1143000"/>
            <a:ext cx="8087976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ounded Rectangle 4"/>
          <p:cNvSpPr/>
          <p:nvPr/>
        </p:nvSpPr>
        <p:spPr>
          <a:xfrm>
            <a:off x="3048000" y="2895600"/>
            <a:ext cx="6096000" cy="3962400"/>
          </a:xfrm>
          <a:prstGeom prst="roundRect">
            <a:avLst/>
          </a:prstGeom>
          <a:solidFill>
            <a:srgbClr val="FFFFFF">
              <a:alpha val="69020"/>
            </a:srgb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381000" y="838200"/>
            <a:ext cx="3200400" cy="6019800"/>
          </a:xfrm>
          <a:prstGeom prst="roundRect">
            <a:avLst/>
          </a:prstGeom>
          <a:solidFill>
            <a:srgbClr val="FFFFFF">
              <a:alpha val="69020"/>
            </a:srgb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3657600" y="1143000"/>
            <a:ext cx="2895600" cy="2057400"/>
          </a:xfrm>
          <a:prstGeom prst="round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Output (and one input), GPIO expansion…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43000"/>
          </a:xfrm>
        </p:spPr>
        <p:txBody>
          <a:bodyPr/>
          <a:lstStyle/>
          <a:p>
            <a:r>
              <a:rPr lang="en-US" dirty="0" smtClean="0"/>
              <a:t>CS”B” is CS1 (Left </a:t>
            </a:r>
            <a:r>
              <a:rPr lang="en-US" dirty="0" err="1" smtClean="0"/>
              <a:t>ch</a:t>
            </a:r>
            <a:r>
              <a:rPr lang="en-US" dirty="0" smtClean="0"/>
              <a:t>.) or CS5 (right channel) on PORTA of PIC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895600"/>
            <a:ext cx="8224838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Straight Arrow Connector 6"/>
          <p:cNvCxnSpPr/>
          <p:nvPr/>
        </p:nvCxnSpPr>
        <p:spPr>
          <a:xfrm flipH="1" flipV="1">
            <a:off x="5334000" y="5410200"/>
            <a:ext cx="76200" cy="4572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228600" y="3657600"/>
            <a:ext cx="3276600" cy="2851841"/>
            <a:chOff x="3810000" y="3886199"/>
            <a:chExt cx="3276600" cy="2851841"/>
          </a:xfrm>
        </p:grpSpPr>
        <p:pic>
          <p:nvPicPr>
            <p:cNvPr id="9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886200" y="3886199"/>
              <a:ext cx="3200400" cy="2851841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10" name="Oval 9"/>
            <p:cNvSpPr/>
            <p:nvPr/>
          </p:nvSpPr>
          <p:spPr>
            <a:xfrm>
              <a:off x="3810000" y="4038599"/>
              <a:ext cx="990600" cy="3048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3810000" y="5943599"/>
              <a:ext cx="990600" cy="304800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3352800" y="5867400"/>
            <a:ext cx="3276600" cy="92333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This is an INPUT from front panel switches  (we ran out of inputs on previous Input GPIO bank)</a:t>
            </a:r>
            <a:endParaRPr lang="en-US" dirty="0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295400" y="2133600"/>
            <a:ext cx="304800" cy="914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010400" y="2286000"/>
            <a:ext cx="1676400" cy="36933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Relay Drivers</a:t>
            </a:r>
            <a:endParaRPr lang="en-US" dirty="0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7467600" y="2667000"/>
            <a:ext cx="533400" cy="304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772400" y="2819400"/>
            <a:ext cx="1295400" cy="3657600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Configure this </a:t>
            </a:r>
            <a:r>
              <a:rPr lang="en-US" dirty="0" err="1" smtClean="0"/>
              <a:t>Exar</a:t>
            </a:r>
            <a:r>
              <a:rPr lang="en-US" dirty="0" smtClean="0"/>
              <a:t> GPIO expansion chip to have the one input from front panel switches, and the rest are outputs to relays….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3600" dirty="0" smtClean="0"/>
              <a:t>Next bank… outputs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67" name="Picture 19"/>
          <p:cNvPicPr>
            <a:picLocks noChangeAspect="1" noChangeArrowheads="1"/>
          </p:cNvPicPr>
          <p:nvPr/>
        </p:nvPicPr>
        <p:blipFill>
          <a:blip r:embed="rId2" cstate="print"/>
          <a:srcRect l="15714" t="15238" r="13810" b="9333"/>
          <a:stretch>
            <a:fillRect/>
          </a:stretch>
        </p:blipFill>
        <p:spPr bwMode="auto">
          <a:xfrm>
            <a:off x="609600" y="1143000"/>
            <a:ext cx="8087976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ounded Rectangle 4"/>
          <p:cNvSpPr/>
          <p:nvPr/>
        </p:nvSpPr>
        <p:spPr>
          <a:xfrm>
            <a:off x="3048000" y="4267200"/>
            <a:ext cx="6096000" cy="2590800"/>
          </a:xfrm>
          <a:prstGeom prst="roundRect">
            <a:avLst/>
          </a:prstGeom>
          <a:solidFill>
            <a:srgbClr val="FFFFFF">
              <a:alpha val="69020"/>
            </a:srgb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381000" y="838200"/>
            <a:ext cx="3505200" cy="6019800"/>
          </a:xfrm>
          <a:prstGeom prst="roundRect">
            <a:avLst/>
          </a:prstGeom>
          <a:solidFill>
            <a:srgbClr val="FFFFFF">
              <a:alpha val="69020"/>
            </a:srgb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3352800" y="2895600"/>
            <a:ext cx="2895600" cy="1295400"/>
          </a:xfrm>
          <a:prstGeom prst="round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2667000" y="990600"/>
            <a:ext cx="6096000" cy="1981200"/>
          </a:xfrm>
          <a:prstGeom prst="roundRect">
            <a:avLst/>
          </a:prstGeom>
          <a:solidFill>
            <a:srgbClr val="FFFFFF">
              <a:alpha val="69020"/>
            </a:srgb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802412"/>
            <a:ext cx="8534400" cy="375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Next bank of </a:t>
            </a:r>
            <a:r>
              <a:rPr lang="en-US" sz="2800" dirty="0" err="1" smtClean="0"/>
              <a:t>Exar</a:t>
            </a:r>
            <a:r>
              <a:rPr lang="en-US" sz="2800" dirty="0" smtClean="0"/>
              <a:t> chips, GPIO expansion…  Tube PCB 12-relays drivers and Rear IO filters (“Lift” Circuit) 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43000"/>
          </a:xfrm>
        </p:spPr>
        <p:txBody>
          <a:bodyPr/>
          <a:lstStyle/>
          <a:p>
            <a:r>
              <a:rPr lang="en-US" dirty="0" smtClean="0"/>
              <a:t>CS”C” is CS2 (Left </a:t>
            </a:r>
            <a:r>
              <a:rPr lang="en-US" dirty="0" err="1" smtClean="0"/>
              <a:t>ch</a:t>
            </a:r>
            <a:r>
              <a:rPr lang="en-US" dirty="0" smtClean="0"/>
              <a:t>.) or CS6 (right channel) on PIC</a:t>
            </a:r>
            <a:endParaRPr lang="en-US" dirty="0"/>
          </a:p>
        </p:txBody>
      </p:sp>
      <p:grpSp>
        <p:nvGrpSpPr>
          <p:cNvPr id="4" name="Group 7"/>
          <p:cNvGrpSpPr/>
          <p:nvPr/>
        </p:nvGrpSpPr>
        <p:grpSpPr>
          <a:xfrm>
            <a:off x="228600" y="3657600"/>
            <a:ext cx="3276600" cy="2851841"/>
            <a:chOff x="3810000" y="3886199"/>
            <a:chExt cx="3276600" cy="2851841"/>
          </a:xfrm>
        </p:grpSpPr>
        <p:pic>
          <p:nvPicPr>
            <p:cNvPr id="9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886200" y="3886199"/>
              <a:ext cx="3200400" cy="2851841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10" name="Oval 9"/>
            <p:cNvSpPr/>
            <p:nvPr/>
          </p:nvSpPr>
          <p:spPr>
            <a:xfrm>
              <a:off x="3810000" y="4190999"/>
              <a:ext cx="990600" cy="3048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3810000" y="6073139"/>
              <a:ext cx="990600" cy="304800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" name="Straight Arrow Connector 12"/>
          <p:cNvCxnSpPr/>
          <p:nvPr/>
        </p:nvCxnSpPr>
        <p:spPr>
          <a:xfrm>
            <a:off x="1295400" y="2133600"/>
            <a:ext cx="304800" cy="914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010400" y="2286000"/>
            <a:ext cx="1676400" cy="36933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Relay Drivers</a:t>
            </a:r>
            <a:endParaRPr lang="en-US" dirty="0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7467600" y="2667000"/>
            <a:ext cx="533400" cy="304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772400" y="2819400"/>
            <a:ext cx="1295400" cy="3657600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3600" dirty="0" smtClean="0"/>
              <a:t>Final Bank… Outputs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67" name="Picture 19"/>
          <p:cNvPicPr>
            <a:picLocks noChangeAspect="1" noChangeArrowheads="1"/>
          </p:cNvPicPr>
          <p:nvPr/>
        </p:nvPicPr>
        <p:blipFill>
          <a:blip r:embed="rId2" cstate="print"/>
          <a:srcRect l="15714" t="15238" r="13810" b="9333"/>
          <a:stretch>
            <a:fillRect/>
          </a:stretch>
        </p:blipFill>
        <p:spPr bwMode="auto">
          <a:xfrm>
            <a:off x="609600" y="1143000"/>
            <a:ext cx="8087976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ounded Rectangle 4"/>
          <p:cNvSpPr/>
          <p:nvPr/>
        </p:nvSpPr>
        <p:spPr>
          <a:xfrm>
            <a:off x="3048000" y="5181600"/>
            <a:ext cx="6096000" cy="1676400"/>
          </a:xfrm>
          <a:prstGeom prst="roundRect">
            <a:avLst/>
          </a:prstGeom>
          <a:solidFill>
            <a:srgbClr val="FFFFFF">
              <a:alpha val="69020"/>
            </a:srgb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381000" y="838200"/>
            <a:ext cx="3505200" cy="6019800"/>
          </a:xfrm>
          <a:prstGeom prst="roundRect">
            <a:avLst/>
          </a:prstGeom>
          <a:solidFill>
            <a:srgbClr val="FFFFFF">
              <a:alpha val="69020"/>
            </a:srgb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3352800" y="4495800"/>
            <a:ext cx="2895600" cy="1295400"/>
          </a:xfrm>
          <a:prstGeom prst="round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2667000" y="990600"/>
            <a:ext cx="6096000" cy="3429000"/>
          </a:xfrm>
          <a:prstGeom prst="roundRect">
            <a:avLst/>
          </a:prstGeom>
          <a:solidFill>
            <a:srgbClr val="FFFFFF">
              <a:alpha val="69020"/>
            </a:srgb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" y="3200400"/>
            <a:ext cx="9067800" cy="3112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Last bank of </a:t>
            </a:r>
            <a:r>
              <a:rPr lang="en-US" dirty="0" err="1" smtClean="0"/>
              <a:t>Exar</a:t>
            </a:r>
            <a:r>
              <a:rPr lang="en-US" dirty="0" smtClean="0"/>
              <a:t> chips, GPIO expansion… Rear IO PAD relays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43000"/>
          </a:xfrm>
        </p:spPr>
        <p:txBody>
          <a:bodyPr/>
          <a:lstStyle/>
          <a:p>
            <a:r>
              <a:rPr lang="en-US" dirty="0" smtClean="0"/>
              <a:t>CS”D” is CS3 (Left </a:t>
            </a:r>
            <a:r>
              <a:rPr lang="en-US" dirty="0" err="1" smtClean="0"/>
              <a:t>ch</a:t>
            </a:r>
            <a:r>
              <a:rPr lang="en-US" dirty="0" smtClean="0"/>
              <a:t>.) or CS7 (right channel) on PIC</a:t>
            </a:r>
            <a:endParaRPr lang="en-US" dirty="0"/>
          </a:p>
        </p:txBody>
      </p:sp>
      <p:grpSp>
        <p:nvGrpSpPr>
          <p:cNvPr id="4" name="Group 7"/>
          <p:cNvGrpSpPr/>
          <p:nvPr/>
        </p:nvGrpSpPr>
        <p:grpSpPr>
          <a:xfrm>
            <a:off x="228600" y="3657600"/>
            <a:ext cx="3276600" cy="2851841"/>
            <a:chOff x="3810000" y="3886199"/>
            <a:chExt cx="3276600" cy="2851841"/>
          </a:xfrm>
        </p:grpSpPr>
        <p:pic>
          <p:nvPicPr>
            <p:cNvPr id="9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886200" y="3886199"/>
              <a:ext cx="3200400" cy="2851841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10" name="Oval 9"/>
            <p:cNvSpPr/>
            <p:nvPr/>
          </p:nvSpPr>
          <p:spPr>
            <a:xfrm>
              <a:off x="3810000" y="4343399"/>
              <a:ext cx="990600" cy="3048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3810000" y="6248399"/>
              <a:ext cx="990600" cy="304800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" name="Straight Arrow Connector 12"/>
          <p:cNvCxnSpPr/>
          <p:nvPr/>
        </p:nvCxnSpPr>
        <p:spPr>
          <a:xfrm flipH="1">
            <a:off x="685800" y="2133600"/>
            <a:ext cx="609600" cy="12192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24600" y="2438400"/>
            <a:ext cx="1676400" cy="92333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To relay drivers for Rear IO attenuator/pad</a:t>
            </a:r>
            <a:endParaRPr lang="en-US" dirty="0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8001000" y="3200400"/>
            <a:ext cx="914400" cy="76200"/>
          </a:xfrm>
          <a:prstGeom prst="straightConnector1">
            <a:avLst/>
          </a:prstGeom>
          <a:ln w="38100"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334000" y="6324600"/>
            <a:ext cx="3657600" cy="36933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Optional 7-segment LED for debug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Typical Firmware Programming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35562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None/>
            </a:pPr>
            <a:r>
              <a:rPr lang="en-US" dirty="0" smtClean="0"/>
              <a:t>With chip select set to appropriate GPIO expansion chip, one at a time: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Read front-panel input GPIO expansion chip to get switch positions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smtClean="0"/>
              <a:t>Don’t forget to scan the one lone rogue input on that expansion chip that has 15 outputs but one input (we ran out of pins on the input expansion chip)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smtClean="0"/>
              <a:t>Some rotary switches are 4-bit binary encoded, yet 0 through 11 (in binary) is used; this could be an unsigned byte or nibble or unsigned char in the firmware code…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smtClean="0"/>
              <a:t>Other switches are either active high or low per schematic; this could be a </a:t>
            </a:r>
            <a:r>
              <a:rPr lang="en-US" dirty="0" err="1" smtClean="0"/>
              <a:t>typedef</a:t>
            </a:r>
            <a:r>
              <a:rPr lang="en-US" dirty="0" smtClean="0"/>
              <a:t> style of C-</a:t>
            </a:r>
            <a:r>
              <a:rPr lang="en-US" dirty="0" err="1" smtClean="0"/>
              <a:t>struct</a:t>
            </a:r>
            <a:r>
              <a:rPr lang="en-US" dirty="0" smtClean="0"/>
              <a:t> in the firmware…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Convert switch positions into relay 1’s or 0’s and output to GPIO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Conversion method is highlighted previous programming word doc…</a:t>
            </a:r>
          </a:p>
          <a:p>
            <a:pPr marL="1371600" lvl="2" indent="-514350">
              <a:buFont typeface="+mj-lt"/>
              <a:buAutoNum type="arabicPeriod"/>
            </a:pPr>
            <a:r>
              <a:rPr lang="en-US" dirty="0" smtClean="0"/>
              <a:t>Some are thermometer-code conversions, or in the case of a 7-relay ladder being controlled by a 12-position (binary nibble) input, a single bit-shifted unraveling…  See logic tables in previous word doc for Firmware programming…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Output these 1’s or 0’s to the GPIO by setting appropriate chip selects one-at-a-time and writing to the SPI bus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Lather, rinse, repeat for each stereo analog channel instantiation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1143000"/>
          </a:xfrm>
        </p:spPr>
        <p:txBody>
          <a:bodyPr>
            <a:noAutofit/>
          </a:bodyPr>
          <a:lstStyle/>
          <a:p>
            <a:r>
              <a:rPr lang="en-US" sz="3200" dirty="0" smtClean="0"/>
              <a:t>1. Read front-panel input GPIO expansion chip to get switch positions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11430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CS”A”  (Chip Select “A”) is either CS 0 (Left Channel) or CS4 (Right Channel) on PORTA of PIC</a:t>
            </a:r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514600"/>
            <a:ext cx="851941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" name="Straight Arrow Connector 9"/>
          <p:cNvCxnSpPr/>
          <p:nvPr/>
        </p:nvCxnSpPr>
        <p:spPr>
          <a:xfrm>
            <a:off x="6096000" y="1600200"/>
            <a:ext cx="1295400" cy="13716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/>
          <p:nvPr/>
        </p:nvPicPr>
        <p:blipFill>
          <a:blip r:embed="rId3" cstate="print"/>
          <a:srcRect l="48767" t="30295" r="22107" b="50139"/>
          <a:stretch>
            <a:fillRect/>
          </a:stretch>
        </p:blipFill>
        <p:spPr bwMode="auto">
          <a:xfrm rot="5400000">
            <a:off x="2484347" y="3383053"/>
            <a:ext cx="4595929" cy="17922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Right Brace 11"/>
          <p:cNvSpPr/>
          <p:nvPr/>
        </p:nvSpPr>
        <p:spPr>
          <a:xfrm>
            <a:off x="3581400" y="3352800"/>
            <a:ext cx="533400" cy="685800"/>
          </a:xfrm>
          <a:prstGeom prst="rightBrace">
            <a:avLst>
              <a:gd name="adj1" fmla="val 28333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12" idx="1"/>
          </p:cNvCxnSpPr>
          <p:nvPr/>
        </p:nvCxnSpPr>
        <p:spPr>
          <a:xfrm>
            <a:off x="4114800" y="3695700"/>
            <a:ext cx="457200" cy="1143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495800" y="3657600"/>
            <a:ext cx="762000" cy="762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Brace 15"/>
          <p:cNvSpPr/>
          <p:nvPr/>
        </p:nvSpPr>
        <p:spPr>
          <a:xfrm>
            <a:off x="3657600" y="5143500"/>
            <a:ext cx="533400" cy="685800"/>
          </a:xfrm>
          <a:prstGeom prst="rightBrace">
            <a:avLst>
              <a:gd name="adj1" fmla="val 28333"/>
              <a:gd name="adj2" fmla="val 28889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4518660" y="5181600"/>
            <a:ext cx="609600" cy="6096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Brace 23"/>
          <p:cNvSpPr/>
          <p:nvPr/>
        </p:nvSpPr>
        <p:spPr>
          <a:xfrm>
            <a:off x="3733800" y="5943600"/>
            <a:ext cx="457200" cy="381000"/>
          </a:xfrm>
          <a:prstGeom prst="rightBrace">
            <a:avLst>
              <a:gd name="adj1" fmla="val 28333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Brace 27"/>
          <p:cNvSpPr/>
          <p:nvPr/>
        </p:nvSpPr>
        <p:spPr>
          <a:xfrm>
            <a:off x="3657600" y="4777740"/>
            <a:ext cx="457200" cy="381000"/>
          </a:xfrm>
          <a:prstGeom prst="rightBrace">
            <a:avLst>
              <a:gd name="adj1" fmla="val 28333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Brace 30"/>
          <p:cNvSpPr/>
          <p:nvPr/>
        </p:nvSpPr>
        <p:spPr>
          <a:xfrm>
            <a:off x="3581400" y="4091940"/>
            <a:ext cx="457200" cy="381000"/>
          </a:xfrm>
          <a:prstGeom prst="rightBrace">
            <a:avLst>
              <a:gd name="adj1" fmla="val 28333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ight Brace 33"/>
          <p:cNvSpPr/>
          <p:nvPr/>
        </p:nvSpPr>
        <p:spPr>
          <a:xfrm>
            <a:off x="3581400" y="2971800"/>
            <a:ext cx="457200" cy="381000"/>
          </a:xfrm>
          <a:prstGeom prst="rightBrace">
            <a:avLst>
              <a:gd name="adj1" fmla="val 28333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hape 35"/>
          <p:cNvCxnSpPr>
            <a:stCxn id="34" idx="1"/>
          </p:cNvCxnSpPr>
          <p:nvPr/>
        </p:nvCxnSpPr>
        <p:spPr>
          <a:xfrm rot="10800000" flipH="1" flipV="1">
            <a:off x="4038600" y="3162300"/>
            <a:ext cx="1295400" cy="2514600"/>
          </a:xfrm>
          <a:prstGeom prst="curvedConnector4">
            <a:avLst>
              <a:gd name="adj1" fmla="val 148039"/>
              <a:gd name="adj2" fmla="val 100000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4114800" y="3886200"/>
            <a:ext cx="304800" cy="304800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hape 46"/>
          <p:cNvCxnSpPr>
            <a:stCxn id="28" idx="1"/>
          </p:cNvCxnSpPr>
          <p:nvPr/>
        </p:nvCxnSpPr>
        <p:spPr>
          <a:xfrm rot="10800000" flipH="1">
            <a:off x="4114800" y="4953000"/>
            <a:ext cx="838200" cy="15240"/>
          </a:xfrm>
          <a:prstGeom prst="curvedConnector5">
            <a:avLst>
              <a:gd name="adj1" fmla="val 17045"/>
              <a:gd name="adj2" fmla="val -750000"/>
              <a:gd name="adj3" fmla="val 96022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hape 58"/>
          <p:cNvCxnSpPr/>
          <p:nvPr/>
        </p:nvCxnSpPr>
        <p:spPr>
          <a:xfrm flipV="1">
            <a:off x="4191000" y="5266111"/>
            <a:ext cx="416934" cy="78366"/>
          </a:xfrm>
          <a:prstGeom prst="curvedConnector4">
            <a:avLst>
              <a:gd name="adj1" fmla="val 21779"/>
              <a:gd name="adj2" fmla="val 98451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hape 62"/>
          <p:cNvCxnSpPr/>
          <p:nvPr/>
        </p:nvCxnSpPr>
        <p:spPr>
          <a:xfrm rot="5400000" flipH="1" flipV="1">
            <a:off x="4056569" y="5773231"/>
            <a:ext cx="497462" cy="228600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hape 67"/>
          <p:cNvCxnSpPr/>
          <p:nvPr/>
        </p:nvCxnSpPr>
        <p:spPr>
          <a:xfrm rot="16200000" flipH="1">
            <a:off x="3963483" y="4344483"/>
            <a:ext cx="531234" cy="381000"/>
          </a:xfrm>
          <a:prstGeom prst="curvedConnector3">
            <a:avLst>
              <a:gd name="adj1" fmla="val 100204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1752600" y="3276600"/>
            <a:ext cx="1295400" cy="762000"/>
          </a:xfrm>
          <a:prstGeom prst="roundRect">
            <a:avLst/>
          </a:prstGeom>
          <a:noFill/>
          <a:ln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ounded Rectangle 87"/>
          <p:cNvSpPr/>
          <p:nvPr/>
        </p:nvSpPr>
        <p:spPr>
          <a:xfrm>
            <a:off x="1828800" y="5105400"/>
            <a:ext cx="1295400" cy="762000"/>
          </a:xfrm>
          <a:prstGeom prst="roundRect">
            <a:avLst/>
          </a:prstGeom>
          <a:noFill/>
          <a:ln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/>
          <p:cNvSpPr txBox="1"/>
          <p:nvPr/>
        </p:nvSpPr>
        <p:spPr>
          <a:xfrm>
            <a:off x="1066800" y="2514600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12position (4-bit encoded)</a:t>
            </a:r>
            <a:endParaRPr lang="en-US" sz="1400" dirty="0"/>
          </a:p>
        </p:txBody>
      </p:sp>
      <p:cxnSp>
        <p:nvCxnSpPr>
          <p:cNvPr id="91" name="Straight Arrow Connector 90"/>
          <p:cNvCxnSpPr/>
          <p:nvPr/>
        </p:nvCxnSpPr>
        <p:spPr>
          <a:xfrm>
            <a:off x="1447800" y="2819400"/>
            <a:ext cx="228600" cy="53340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>
            <a:off x="1447800" y="2743200"/>
            <a:ext cx="381000" cy="243840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1752600" y="4495800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Note: “Lift” = “Filter”</a:t>
            </a:r>
            <a:endParaRPr lang="en-US" sz="1400" dirty="0"/>
          </a:p>
        </p:txBody>
      </p:sp>
      <p:sp>
        <p:nvSpPr>
          <p:cNvPr id="96" name="Rounded Rectangle 95"/>
          <p:cNvSpPr/>
          <p:nvPr/>
        </p:nvSpPr>
        <p:spPr>
          <a:xfrm>
            <a:off x="6324600" y="1752600"/>
            <a:ext cx="2819400" cy="4876800"/>
          </a:xfrm>
          <a:prstGeom prst="roundRect">
            <a:avLst/>
          </a:prstGeom>
          <a:solidFill>
            <a:srgbClr val="FFFFFF">
              <a:alpha val="58824"/>
            </a:srgb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/>
          <p:cNvGrpSpPr/>
          <p:nvPr/>
        </p:nvGrpSpPr>
        <p:grpSpPr>
          <a:xfrm>
            <a:off x="6205533" y="4039965"/>
            <a:ext cx="2028825" cy="646331"/>
            <a:chOff x="6400800" y="4167485"/>
            <a:chExt cx="2028825" cy="646331"/>
          </a:xfrm>
        </p:grpSpPr>
        <p:sp>
          <p:nvSpPr>
            <p:cNvPr id="56" name="TextBox 55"/>
            <p:cNvSpPr txBox="1"/>
            <p:nvPr/>
          </p:nvSpPr>
          <p:spPr>
            <a:xfrm>
              <a:off x="6400800" y="4167485"/>
              <a:ext cx="2028825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b="1" dirty="0" smtClean="0">
                  <a:solidFill>
                    <a:srgbClr val="FF0000"/>
                  </a:solidFill>
                </a:rPr>
                <a:t>FB/CLEAN# </a:t>
              </a:r>
            </a:p>
            <a:p>
              <a:pPr algn="r"/>
              <a:r>
                <a:rPr lang="en-US" sz="1200" b="1" dirty="0" smtClean="0">
                  <a:solidFill>
                    <a:srgbClr val="FF0000"/>
                  </a:solidFill>
                </a:rPr>
                <a:t>From other GPIO Expansion Chip</a:t>
              </a:r>
              <a:endParaRPr lang="en-US" sz="12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79" name="Straight Connector 78"/>
            <p:cNvCxnSpPr/>
            <p:nvPr/>
          </p:nvCxnSpPr>
          <p:spPr>
            <a:xfrm>
              <a:off x="7581896" y="4229104"/>
              <a:ext cx="7620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Shape 41"/>
          <p:cNvCxnSpPr/>
          <p:nvPr/>
        </p:nvCxnSpPr>
        <p:spPr>
          <a:xfrm>
            <a:off x="4267200" y="4267200"/>
            <a:ext cx="4114800" cy="381000"/>
          </a:xfrm>
          <a:prstGeom prst="curvedConnector3">
            <a:avLst>
              <a:gd name="adj1" fmla="val 69"/>
            </a:avLst>
          </a:prstGeom>
          <a:ln w="38100">
            <a:solidFill>
              <a:srgbClr val="FF0000"/>
            </a:solidFill>
            <a:prstDash val="sysDot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895600"/>
            <a:ext cx="8224838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Rounded Rectangle 24"/>
          <p:cNvSpPr/>
          <p:nvPr/>
        </p:nvSpPr>
        <p:spPr>
          <a:xfrm>
            <a:off x="228600" y="3505200"/>
            <a:ext cx="3733800" cy="2743200"/>
          </a:xfrm>
          <a:prstGeom prst="roundRect">
            <a:avLst/>
          </a:prstGeom>
          <a:solidFill>
            <a:srgbClr val="FFFFFF">
              <a:alpha val="58824"/>
            </a:srgb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2. Convert switch positions into relay 1’s or 0’s and output to GPIO</a:t>
            </a:r>
            <a:br>
              <a:rPr lang="en-US" sz="2800" dirty="0" smtClean="0"/>
            </a:b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43000"/>
          </a:xfrm>
        </p:spPr>
        <p:txBody>
          <a:bodyPr/>
          <a:lstStyle/>
          <a:p>
            <a:r>
              <a:rPr lang="en-US" dirty="0" smtClean="0"/>
              <a:t>CS”B” is CS1 (Left </a:t>
            </a:r>
            <a:r>
              <a:rPr lang="en-US" dirty="0" err="1" smtClean="0"/>
              <a:t>ch</a:t>
            </a:r>
            <a:r>
              <a:rPr lang="en-US" dirty="0" smtClean="0"/>
              <a:t>.) or CS5 (right channel) on PORTA of PIC</a:t>
            </a:r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5334000" y="5410200"/>
            <a:ext cx="76200" cy="4572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057400" y="5867400"/>
            <a:ext cx="4572000" cy="92333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This is an INPUT from front panel switches  (we ran out of inputs on previous Input GPIO bank); Don’t forget to read me too </a:t>
            </a:r>
            <a:r>
              <a:rPr lang="en-US" dirty="0" smtClean="0">
                <a:sym typeface="Wingdings" pitchFamily="2" charset="2"/>
              </a:rPr>
              <a:t></a:t>
            </a:r>
            <a:endParaRPr lang="en-US" dirty="0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295400" y="2133600"/>
            <a:ext cx="304800" cy="914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010400" y="2286000"/>
            <a:ext cx="1676400" cy="36933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Relay Drivers</a:t>
            </a:r>
            <a:endParaRPr lang="en-US" dirty="0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7467600" y="2667000"/>
            <a:ext cx="533400" cy="304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772400" y="2819400"/>
            <a:ext cx="1295400" cy="3657600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276225" y="4267200"/>
            <a:ext cx="223837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 smtClean="0">
                <a:solidFill>
                  <a:srgbClr val="FF0000"/>
                </a:solidFill>
              </a:rPr>
              <a:t>FB/CLEAN# </a:t>
            </a:r>
          </a:p>
          <a:p>
            <a:pPr algn="r"/>
            <a:r>
              <a:rPr lang="en-US" sz="1200" b="1" dirty="0" smtClean="0">
                <a:solidFill>
                  <a:srgbClr val="FF0000"/>
                </a:solidFill>
              </a:rPr>
              <a:t>TO input Scanning Operations</a:t>
            </a:r>
            <a:endParaRPr lang="en-US" sz="1200" b="1" dirty="0">
              <a:solidFill>
                <a:srgbClr val="FF0000"/>
              </a:solidFill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1685925" y="4324350"/>
            <a:ext cx="7620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410200" y="2971800"/>
            <a:ext cx="1676400" cy="1066800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3724275" y="2105025"/>
            <a:ext cx="3000376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 smtClean="0">
                <a:solidFill>
                  <a:srgbClr val="FF0000"/>
                </a:solidFill>
              </a:rPr>
              <a:t>12-position switch (4-bit encoded) CONVERTED to 7-relay (7-bit) output * (See next page)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781800" y="1752600"/>
            <a:ext cx="2362200" cy="4876800"/>
          </a:xfrm>
          <a:prstGeom prst="roundRect">
            <a:avLst/>
          </a:prstGeom>
          <a:solidFill>
            <a:srgbClr val="FFFFFF">
              <a:alpha val="58824"/>
            </a:srgb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/>
          <p:cNvSpPr/>
          <p:nvPr/>
        </p:nvSpPr>
        <p:spPr>
          <a:xfrm>
            <a:off x="4114800" y="3048000"/>
            <a:ext cx="1447800" cy="2743200"/>
          </a:xfrm>
          <a:prstGeom prst="roundRect">
            <a:avLst/>
          </a:prstGeom>
          <a:solidFill>
            <a:srgbClr val="FFFFFF">
              <a:alpha val="58824"/>
            </a:srgb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hape 41"/>
          <p:cNvCxnSpPr/>
          <p:nvPr/>
        </p:nvCxnSpPr>
        <p:spPr>
          <a:xfrm>
            <a:off x="819150" y="4819650"/>
            <a:ext cx="4495800" cy="533400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prstDash val="sysDot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Autofit/>
          </a:bodyPr>
          <a:lstStyle/>
          <a:p>
            <a:r>
              <a:rPr lang="en-US" sz="2400" dirty="0" smtClean="0"/>
              <a:t>12-postion switches encoded as 4-bit, Converted to 7-bit (7-relay) ladder control truth table </a:t>
            </a:r>
            <a:br>
              <a:rPr lang="en-US" sz="2400" dirty="0" smtClean="0"/>
            </a:br>
            <a:r>
              <a:rPr lang="en-US" sz="2400" dirty="0" smtClean="0"/>
              <a:t>(for output level (gain) and loading knob)</a:t>
            </a:r>
            <a:endParaRPr lang="en-US" sz="24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762000" y="1295400"/>
          <a:ext cx="7620000" cy="4486537"/>
        </p:xfrm>
        <a:graphic>
          <a:graphicData uri="http://schemas.openxmlformats.org/drawingml/2006/table">
            <a:tbl>
              <a:tblPr/>
              <a:tblGrid>
                <a:gridCol w="1047462"/>
                <a:gridCol w="1047462"/>
                <a:gridCol w="920846"/>
                <a:gridCol w="920846"/>
                <a:gridCol w="920846"/>
                <a:gridCol w="920846"/>
                <a:gridCol w="920846"/>
                <a:gridCol w="920846"/>
              </a:tblGrid>
              <a:tr h="5986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4093" marR="6409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Energized?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000">
                        <a:latin typeface="Calibri"/>
                        <a:ea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000">
                        <a:latin typeface="Calibri"/>
                        <a:ea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000">
                        <a:latin typeface="Calibri"/>
                        <a:ea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000">
                        <a:latin typeface="Calibri"/>
                        <a:ea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000">
                        <a:latin typeface="Calibri"/>
                        <a:ea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000">
                        <a:latin typeface="Calibri"/>
                        <a:ea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79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SW POS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KRANGE</a:t>
                      </a:r>
                      <a:endParaRPr lang="en-US" sz="1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K1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K2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K3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K4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K5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K6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</a:tr>
              <a:tr h="29933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</a:tr>
              <a:tr h="29933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BFBFBF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Yes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</a:tr>
              <a:tr h="29933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3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BFBFBF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Yes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BFBFBF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Yes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</a:tr>
              <a:tr h="29933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4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BFBFBF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Yes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BFBFBF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Yes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BFBFBF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Yes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</a:tr>
              <a:tr h="29933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5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BFBFBF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Yes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BFBFBF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Yes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</a:tr>
              <a:tr h="29933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6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BFBFBF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Yes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BFBFBF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Yes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BFBFBF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Yes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</a:tr>
              <a:tr h="29933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7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BFBFBF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Yes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BFBFBF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Yes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</a:tr>
              <a:tr h="29933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8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BFBFBF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Yes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BFBFBF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Yes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BFBFBF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Yes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</a:tr>
              <a:tr h="29933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9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BFBFBF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Yes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BFBFBF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Yes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</a:tr>
              <a:tr h="29933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10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BFBFBF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Yes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BFBFBF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Yes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BFBFBF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Yes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</a:tr>
              <a:tr h="29933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11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BFBFBF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Yes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BFBFBF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Yes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29933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12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BFBFBF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Yes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BFBFBF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Yes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61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BFBFBF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Yes</a:t>
                      </a:r>
                      <a:endParaRPr lang="en-US" sz="1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093" marR="6409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5791200"/>
            <a:ext cx="8229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Note that range (KRANGE, “K” is used for “coil” in relay-speak) is alternating every other switch position, just like in a binary count the </a:t>
            </a:r>
            <a:r>
              <a:rPr lang="en-US" sz="1400" dirty="0" err="1" smtClean="0"/>
              <a:t>LSb</a:t>
            </a:r>
            <a:r>
              <a:rPr lang="en-US" sz="1400" dirty="0" smtClean="0"/>
              <a:t> is always alternating…  The other bits (K1 through K6) are doubled for each switch position.  K1 follows same concept/pattern, but its bit is </a:t>
            </a:r>
            <a:r>
              <a:rPr lang="en-US" sz="1400" u="sng" dirty="0" smtClean="0"/>
              <a:t>inverted </a:t>
            </a:r>
            <a:r>
              <a:rPr lang="en-US" sz="1400" dirty="0" smtClean="0"/>
              <a:t>for when </a:t>
            </a:r>
            <a:r>
              <a:rPr lang="en-US" sz="1400" dirty="0" err="1" smtClean="0"/>
              <a:t>lineamp</a:t>
            </a:r>
            <a:r>
              <a:rPr lang="en-US" sz="1400" dirty="0" smtClean="0"/>
              <a:t> is being powered up/down.</a:t>
            </a:r>
            <a:endParaRPr lang="en-US" sz="1400" u="sng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802412"/>
            <a:ext cx="8534400" cy="375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Next bank of </a:t>
            </a:r>
            <a:r>
              <a:rPr lang="en-US" dirty="0" err="1" smtClean="0"/>
              <a:t>Exar</a:t>
            </a:r>
            <a:r>
              <a:rPr lang="en-US" dirty="0" smtClean="0"/>
              <a:t> chips, GPIO expansion…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43000"/>
          </a:xfrm>
        </p:spPr>
        <p:txBody>
          <a:bodyPr/>
          <a:lstStyle/>
          <a:p>
            <a:r>
              <a:rPr lang="en-US" dirty="0" smtClean="0"/>
              <a:t>CS”C” is CS2 (Left </a:t>
            </a:r>
            <a:r>
              <a:rPr lang="en-US" dirty="0" err="1" smtClean="0"/>
              <a:t>ch</a:t>
            </a:r>
            <a:r>
              <a:rPr lang="en-US" dirty="0" smtClean="0"/>
              <a:t>.) or CS6 (right channel) on PIC</a:t>
            </a:r>
            <a:endParaRPr lang="en-US" dirty="0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295400" y="2133600"/>
            <a:ext cx="304800" cy="914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010400" y="2286000"/>
            <a:ext cx="1676400" cy="36933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Relay Drivers</a:t>
            </a:r>
            <a:endParaRPr lang="en-US" dirty="0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7467600" y="2667000"/>
            <a:ext cx="533400" cy="304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772400" y="2819400"/>
            <a:ext cx="1295400" cy="3657600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47925" y="2028825"/>
            <a:ext cx="4514851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 smtClean="0">
                <a:solidFill>
                  <a:srgbClr val="FF0000"/>
                </a:solidFill>
              </a:rPr>
              <a:t>12-position LOADING switch CONVERTED to custom thermometer-code output * (See next page)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334000" y="2819400"/>
            <a:ext cx="1066800" cy="2133600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K_FF (Relay coil “K”, for Feed Forward mode)</a:t>
            </a:r>
          </a:p>
          <a:p>
            <a:r>
              <a:rPr lang="en-US" dirty="0" smtClean="0"/>
              <a:t>K_FB = feedback mode</a:t>
            </a:r>
          </a:p>
          <a:p>
            <a:r>
              <a:rPr lang="en-US" dirty="0" smtClean="0"/>
              <a:t>Switch positions 2 through 11 are thermometer code decoded from 4-bit binary value</a:t>
            </a:r>
          </a:p>
          <a:p>
            <a:pPr lvl="1"/>
            <a:r>
              <a:rPr lang="en-US" dirty="0" smtClean="0"/>
              <a:t>When switch is in position 2, then SWPOS2 is active… position 3, SWPOS3… position 4, SWPOS4… an so on to SWPOS11…</a:t>
            </a:r>
          </a:p>
          <a:p>
            <a:pPr lvl="1"/>
            <a:r>
              <a:rPr lang="en-US" dirty="0" smtClean="0"/>
              <a:t>K_FF and K_FB are special, and represent SWPOS1 (not shown) or SWPOS12 (not shown) depending upon clean (feedback) or bloom (</a:t>
            </a:r>
            <a:r>
              <a:rPr lang="en-US" dirty="0" err="1" smtClean="0"/>
              <a:t>feedforward</a:t>
            </a:r>
            <a:r>
              <a:rPr lang="en-US" dirty="0" smtClean="0"/>
              <a:t>) mode switch position…</a:t>
            </a:r>
          </a:p>
          <a:p>
            <a:pPr lvl="1"/>
            <a:r>
              <a:rPr lang="en-US" dirty="0" smtClean="0"/>
              <a:t>This was done to minimize logic and relay ($$$) component count, using electromechanical and analog circuit ladder relay logic combined with digital logic.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600" y="1142996"/>
          <a:ext cx="7010400" cy="3924685"/>
        </p:xfrm>
        <a:graphic>
          <a:graphicData uri="http://schemas.openxmlformats.org/drawingml/2006/table">
            <a:tbl>
              <a:tblPr/>
              <a:tblGrid>
                <a:gridCol w="467360"/>
                <a:gridCol w="467360"/>
                <a:gridCol w="467360"/>
                <a:gridCol w="467360"/>
                <a:gridCol w="467360"/>
                <a:gridCol w="467360"/>
                <a:gridCol w="467360"/>
                <a:gridCol w="467360"/>
                <a:gridCol w="467360"/>
                <a:gridCol w="467360"/>
                <a:gridCol w="467360"/>
                <a:gridCol w="467360"/>
                <a:gridCol w="467360"/>
                <a:gridCol w="467360"/>
                <a:gridCol w="467360"/>
              </a:tblGrid>
              <a:tr h="2308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FF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1727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SWPOS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3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4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5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6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7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8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9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10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12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</a:tr>
              <a:tr h="4617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K_FF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08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K2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08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K3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08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K4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08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K5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08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K6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08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K7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08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K8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08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K9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08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K10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08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K11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17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K_FB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19200" y="457200"/>
            <a:ext cx="723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FF is </a:t>
            </a:r>
            <a:r>
              <a:rPr lang="en-US" dirty="0" err="1" smtClean="0"/>
              <a:t>feedforward</a:t>
            </a:r>
            <a:r>
              <a:rPr lang="en-US" dirty="0" smtClean="0"/>
              <a:t> (active in this table):  FF =1 when FB/CLEAN# is High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295400" y="5562600"/>
            <a:ext cx="563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Essentially, FF = the raw, non-inverted FB/CLEAN# signal from the front panel switch</a:t>
            </a:r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4876800" y="5616766"/>
            <a:ext cx="1143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030817" y="511366"/>
            <a:ext cx="1143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0" y="1790319"/>
          <a:ext cx="6096000" cy="3277362"/>
        </p:xfrm>
        <a:graphic>
          <a:graphicData uri="http://schemas.openxmlformats.org/drawingml/2006/table">
            <a:tbl>
              <a:tblPr/>
              <a:tblGrid>
                <a:gridCol w="406400"/>
                <a:gridCol w="406400"/>
                <a:gridCol w="406400"/>
                <a:gridCol w="406400"/>
                <a:gridCol w="406400"/>
                <a:gridCol w="406400"/>
                <a:gridCol w="406400"/>
                <a:gridCol w="406400"/>
                <a:gridCol w="406400"/>
                <a:gridCol w="406400"/>
                <a:gridCol w="406400"/>
                <a:gridCol w="406400"/>
                <a:gridCol w="406400"/>
                <a:gridCol w="406400"/>
                <a:gridCol w="406400"/>
              </a:tblGrid>
              <a:tr h="1905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FF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SWPOS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3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4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5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6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7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8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9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10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12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K_FF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K2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K3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K4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K5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K6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K7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K8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K9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K10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K11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K_FB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19200" y="609600"/>
            <a:ext cx="388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FF = 0 when FB/CLEAN# is low</a:t>
            </a: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2427383" y="653668"/>
            <a:ext cx="1143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Pad and Tube relays have identical switch position implementation but different decoding schemes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Note that Rear IO attenuator/PAD (4-bit to 7-bit relay ladder) is tandem to TUBE PCB 12-relay thermometer coded relays just shown in prior slide truth table…</a:t>
            </a:r>
          </a:p>
          <a:p>
            <a:r>
              <a:rPr lang="en-US" dirty="0" smtClean="0"/>
              <a:t>In other words, when switch position 7 (for example) is selected on Loading knob, both the attenuator/pad on Rear IO and 12-relays on Tube PCB should be set as they would for position 7</a:t>
            </a:r>
          </a:p>
          <a:p>
            <a:pPr lvl="1"/>
            <a:r>
              <a:rPr lang="en-US" dirty="0" smtClean="0"/>
              <a:t>The decoding/converting is different for these two relay ladder circuits on the two different PCBs, but switch position 1 through 12 are implemented in tandem to these two different relay ladders</a:t>
            </a:r>
          </a:p>
          <a:p>
            <a:pPr lvl="1"/>
            <a:r>
              <a:rPr lang="en-US" dirty="0" smtClean="0"/>
              <a:t>Position 1 means both ladders are set as they would be for position1 (with their different decoding methodologies shown in prior slides)</a:t>
            </a:r>
          </a:p>
          <a:p>
            <a:pPr lvl="1"/>
            <a:r>
              <a:rPr lang="en-US" dirty="0" err="1" smtClean="0"/>
              <a:t>Postion</a:t>
            </a:r>
            <a:r>
              <a:rPr lang="en-US" dirty="0" smtClean="0"/>
              <a:t> 2 means both ladders are set as they would be for position 2</a:t>
            </a:r>
          </a:p>
          <a:p>
            <a:pPr lvl="1"/>
            <a:r>
              <a:rPr lang="en-US" dirty="0" err="1" smtClean="0"/>
              <a:t>Positon</a:t>
            </a:r>
            <a:r>
              <a:rPr lang="en-US" dirty="0" smtClean="0"/>
              <a:t> 3 … and … so-on….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371600" y="5638800"/>
            <a:ext cx="1066800" cy="990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Front Panel</a:t>
            </a:r>
          </a:p>
          <a:p>
            <a:pPr algn="ctr"/>
            <a:r>
              <a:rPr lang="en-US" sz="1400" dirty="0" smtClean="0"/>
              <a:t>Loading Knob</a:t>
            </a:r>
            <a:endParaRPr lang="en-US" sz="1400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514600" y="6172200"/>
            <a:ext cx="990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667000" y="5791200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4-bit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191000" y="5181600"/>
            <a:ext cx="16002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Decode 4-bit to 7-bit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191000" y="5867400"/>
            <a:ext cx="213360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Decode 4-bit to custom Thermometer code</a:t>
            </a:r>
            <a:endParaRPr lang="en-US" dirty="0"/>
          </a:p>
        </p:txBody>
      </p:sp>
      <p:cxnSp>
        <p:nvCxnSpPr>
          <p:cNvPr id="11" name="Straight Arrow Connector 10"/>
          <p:cNvCxnSpPr>
            <a:endCxn id="8" idx="1"/>
          </p:cNvCxnSpPr>
          <p:nvPr/>
        </p:nvCxnSpPr>
        <p:spPr>
          <a:xfrm flipV="1">
            <a:off x="3505200" y="5504766"/>
            <a:ext cx="685800" cy="5912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429000" y="6248400"/>
            <a:ext cx="6858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781800" y="5029200"/>
            <a:ext cx="205740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Attenuator/pad relay ladder (7 relays, Rear IO PCB)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6705600" y="6096000"/>
            <a:ext cx="22860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Tube PCB relay ladder (12 relays)</a:t>
            </a:r>
            <a:endParaRPr lang="en-US" dirty="0"/>
          </a:p>
        </p:txBody>
      </p:sp>
      <p:cxnSp>
        <p:nvCxnSpPr>
          <p:cNvPr id="19" name="Straight Arrow Connector 18"/>
          <p:cNvCxnSpPr>
            <a:stCxn id="8" idx="3"/>
            <a:endCxn id="16" idx="1"/>
          </p:cNvCxnSpPr>
          <p:nvPr/>
        </p:nvCxnSpPr>
        <p:spPr>
          <a:xfrm flipV="1">
            <a:off x="5791200" y="5490865"/>
            <a:ext cx="990600" cy="139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9" idx="3"/>
            <a:endCxn id="17" idx="1"/>
          </p:cNvCxnSpPr>
          <p:nvPr/>
        </p:nvCxnSpPr>
        <p:spPr>
          <a:xfrm>
            <a:off x="6324600" y="6329065"/>
            <a:ext cx="381000" cy="901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1573</Words>
  <Application>Microsoft Office PowerPoint</Application>
  <PresentationFormat>On-screen Show (4:3)</PresentationFormat>
  <Paragraphs>314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P331 GPIO expansion chips</vt:lpstr>
      <vt:lpstr>P331</vt:lpstr>
      <vt:lpstr>Slide 3</vt:lpstr>
      <vt:lpstr>Micro Controller Unit (MCU) PIC chip close up PORTA for chip selects</vt:lpstr>
      <vt:lpstr>Slide 5</vt:lpstr>
      <vt:lpstr>Slide 6</vt:lpstr>
      <vt:lpstr>GPIO Expansion chips (logical, 1 channel shown)</vt:lpstr>
      <vt:lpstr>Lets look at the inputs from front panel first…</vt:lpstr>
      <vt:lpstr>Exar GPIO expansion chip for Front Panel user Input on front panel switches  (Line Amp, Relay Drivers : SPI_GPIOs_RELAY_DRIVERS.SchDoc schematic page)</vt:lpstr>
      <vt:lpstr>Next bank… outputs (and one input)</vt:lpstr>
      <vt:lpstr>Output (and one input), GPIO expansion…</vt:lpstr>
      <vt:lpstr>Slide 12</vt:lpstr>
      <vt:lpstr>Next bank… outputs</vt:lpstr>
      <vt:lpstr>Next bank of Exar chips, GPIO expansion…  Tube PCB 12-relays drivers and Rear IO filters (“Lift” Circuit) </vt:lpstr>
      <vt:lpstr>Final Bank… Outputs</vt:lpstr>
      <vt:lpstr>Last bank of Exar chips, GPIO expansion… Rear IO PAD relays</vt:lpstr>
      <vt:lpstr>Typical Firmware Programming Example</vt:lpstr>
      <vt:lpstr>1. Read front-panel input GPIO expansion chip to get switch positions</vt:lpstr>
      <vt:lpstr>2. Convert switch positions into relay 1’s or 0’s and output to GPIO </vt:lpstr>
      <vt:lpstr>12-postion switches encoded as 4-bit, Converted to 7-bit (7-relay) ladder control truth table  (for output level (gain) and loading knob)</vt:lpstr>
      <vt:lpstr>Next bank of Exar chips, GPIO expansion…</vt:lpstr>
      <vt:lpstr>Slide 22</vt:lpstr>
      <vt:lpstr>Slide 23</vt:lpstr>
      <vt:lpstr>Slide 24</vt:lpstr>
      <vt:lpstr>Pad and Tube relays have identical switch position implementation but different decoding schemes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Regis Philbin</dc:creator>
  <cp:lastModifiedBy>_</cp:lastModifiedBy>
  <cp:revision>89</cp:revision>
  <dcterms:created xsi:type="dcterms:W3CDTF">2017-09-25T20:09:14Z</dcterms:created>
  <dcterms:modified xsi:type="dcterms:W3CDTF">2017-11-11T18:47:40Z</dcterms:modified>
</cp:coreProperties>
</file>