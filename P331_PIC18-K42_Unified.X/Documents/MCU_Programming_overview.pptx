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3" r:id="rId7"/>
    <p:sldId id="261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150" autoAdjust="0"/>
  </p:normalViewPr>
  <p:slideViewPr>
    <p:cSldViewPr>
      <p:cViewPr varScale="1">
        <p:scale>
          <a:sx n="82" d="100"/>
          <a:sy n="82" d="100"/>
        </p:scale>
        <p:origin x="-6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7E16DA-3E2D-4145-BD53-DA9D480D5AB1}" type="datetimeFigureOut">
              <a:rPr lang="en-US" smtClean="0"/>
              <a:pPr/>
              <a:t>11/11/2017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7F653D-4D3E-44F4-AAC9-7346FB03DEB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xar.com/content/document.ashx?id=20785" TargetMode="External"/><Relationship Id="rId2" Type="http://schemas.openxmlformats.org/officeDocument/2006/relationships/hyperlink" Target="https://www.digikey.com/products/en?keywords=1016-1723-5-N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P331 GPIO expansion chips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schematic overview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P331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Uses GPIO expansion chips (XRA1403, by </a:t>
            </a:r>
            <a:r>
              <a:rPr lang="en-US" dirty="0" err="1" smtClean="0"/>
              <a:t>Exar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8 total</a:t>
            </a:r>
          </a:p>
          <a:p>
            <a:pPr lvl="2"/>
            <a:r>
              <a:rPr lang="en-US" dirty="0" smtClean="0"/>
              <a:t>4 for left channel</a:t>
            </a:r>
          </a:p>
          <a:p>
            <a:pPr lvl="2"/>
            <a:r>
              <a:rPr lang="en-US" dirty="0" smtClean="0"/>
              <a:t>4 for right channel</a:t>
            </a:r>
          </a:p>
          <a:p>
            <a:pPr lvl="2"/>
            <a:r>
              <a:rPr lang="en-US" dirty="0" smtClean="0"/>
              <a:t>For each channel, 1 chip is for front-panel input (mostly); remaining three chips are for output to control relays (7-segment LED is optional, handy for debug if wished to be implemented)</a:t>
            </a:r>
          </a:p>
          <a:p>
            <a:pPr lvl="1"/>
            <a:r>
              <a:rPr lang="en-US" dirty="0" smtClean="0">
                <a:hlinkClick r:id="rId2"/>
              </a:rPr>
              <a:t>https://www.digikey.com/products/en?keywords=1016-1723-5-ND</a:t>
            </a:r>
            <a:endParaRPr lang="en-US" dirty="0" smtClean="0"/>
          </a:p>
          <a:p>
            <a:pPr lvl="2"/>
            <a:r>
              <a:rPr lang="en-US" dirty="0" smtClean="0"/>
              <a:t>Datasheet located here:</a:t>
            </a:r>
          </a:p>
          <a:p>
            <a:pPr lvl="2"/>
            <a:r>
              <a:rPr lang="en-US" dirty="0" smtClean="0">
                <a:hlinkClick r:id="rId3"/>
              </a:rPr>
              <a:t>https://www.exar.com/content/document.ashx?id=20785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Each GPIO expansion chip has 16 signals (configurable as input or output using SPI bus commands listed in datasheet)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Because of so many GPIO expansion chips (mostly controlling relays and reading input switch positions), chip-selects are implemented in the design</a:t>
            </a:r>
          </a:p>
          <a:p>
            <a:pPr lvl="1"/>
            <a:r>
              <a:rPr lang="en-US" dirty="0" smtClean="0"/>
              <a:t>Implemented on PORT A of PIC</a:t>
            </a:r>
          </a:p>
          <a:p>
            <a:pPr lvl="1"/>
            <a:r>
              <a:rPr lang="en-US" dirty="0" smtClean="0"/>
              <a:t>Chip selects should be activated first, then data/commands are issues on SPI bus per XRA1403IG24-F Datasheet</a:t>
            </a:r>
          </a:p>
          <a:p>
            <a:pPr lvl="1"/>
            <a:r>
              <a:rPr lang="en-US" dirty="0" smtClean="0"/>
              <a:t>Note: we use “CS” for “chip select”</a:t>
            </a:r>
          </a:p>
          <a:p>
            <a:pPr lvl="1"/>
            <a:r>
              <a:rPr lang="en-US" dirty="0" smtClean="0"/>
              <a:t>Only one chip select active at a time…. Expansion chips are not SPI serial daisy-chained…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Micro Controller Unit (MCU) PIC chip close up PORTA for chip selects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229600" cy="45259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1676400"/>
            <a:ext cx="6629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ight Brace 4"/>
          <p:cNvSpPr/>
          <p:nvPr/>
        </p:nvSpPr>
        <p:spPr>
          <a:xfrm>
            <a:off x="7010400" y="2133600"/>
            <a:ext cx="533400" cy="533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Brace 5"/>
          <p:cNvSpPr/>
          <p:nvPr/>
        </p:nvSpPr>
        <p:spPr>
          <a:xfrm>
            <a:off x="7010400" y="2819400"/>
            <a:ext cx="533400" cy="5334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467600" y="19812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0 through 3</a:t>
            </a:r>
          </a:p>
          <a:p>
            <a:r>
              <a:rPr lang="en-US" dirty="0" smtClean="0"/>
              <a:t>LEFT channel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467600" y="2858869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4 through 7</a:t>
            </a:r>
          </a:p>
          <a:p>
            <a:r>
              <a:rPr lang="en-US" dirty="0" smtClean="0"/>
              <a:t>RIGHT channel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04800"/>
            <a:ext cx="7103806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Oval 8"/>
          <p:cNvSpPr/>
          <p:nvPr/>
        </p:nvSpPr>
        <p:spPr>
          <a:xfrm>
            <a:off x="6324600" y="457200"/>
            <a:ext cx="1219200" cy="1066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324600" y="1524000"/>
            <a:ext cx="1219200" cy="10668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CHIP SELECTS on MCU schematic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33400" y="3505200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PIC 18F26K20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1143000" y="2819400"/>
            <a:ext cx="381000" cy="7620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543800" y="6096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0 through 3</a:t>
            </a:r>
          </a:p>
          <a:p>
            <a:r>
              <a:rPr lang="en-US" dirty="0" smtClean="0"/>
              <a:t>LEFT channel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543800" y="16764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4 through 7</a:t>
            </a:r>
          </a:p>
          <a:p>
            <a:r>
              <a:rPr lang="en-US" dirty="0" smtClean="0"/>
              <a:t>RIGHT channel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1905000"/>
            <a:ext cx="6831371" cy="3524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2557821" y="1905000"/>
            <a:ext cx="1981200" cy="16764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282221" y="20574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0 through 3</a:t>
            </a:r>
          </a:p>
          <a:p>
            <a:r>
              <a:rPr lang="en-US" dirty="0" smtClean="0"/>
              <a:t>LEFT channel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282221" y="3886200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CS 4 through 7</a:t>
            </a:r>
          </a:p>
          <a:p>
            <a:r>
              <a:rPr lang="en-US" dirty="0" smtClean="0"/>
              <a:t>RIGHT channel 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4615221" y="2133600"/>
            <a:ext cx="990600" cy="6096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557821" y="3429000"/>
            <a:ext cx="1981200" cy="16764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615221" y="3657600"/>
            <a:ext cx="990600" cy="609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685800" y="4572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CHIP SELECTS on MCU schematic Bus connection to rest of PCB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1295400" y="5715000"/>
            <a:ext cx="701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GPIO expansion chips are addressed one-at-a-time (i.e., only one chip select active at any one time).  Expansion chips are NOT serially daisy-chained 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39200" cy="1143000"/>
          </a:xfrm>
        </p:spPr>
        <p:txBody>
          <a:bodyPr>
            <a:noAutofit/>
          </a:bodyPr>
          <a:lstStyle/>
          <a:p>
            <a:r>
              <a:rPr lang="en-US" sz="2000" dirty="0" err="1" smtClean="0"/>
              <a:t>Exar</a:t>
            </a:r>
            <a:r>
              <a:rPr lang="en-US" sz="2000" dirty="0" smtClean="0"/>
              <a:t> GPIO expansion chip for Front Panel user Input on front panel switches </a:t>
            </a:r>
            <a:br>
              <a:rPr lang="en-US" sz="2000" dirty="0" smtClean="0"/>
            </a:br>
            <a:r>
              <a:rPr lang="en-US" sz="2000" dirty="0" smtClean="0"/>
              <a:t>(Line Amp, Relay Drivers : </a:t>
            </a:r>
            <a:r>
              <a:rPr lang="en-US" sz="2000" dirty="0" err="1" smtClean="0"/>
              <a:t>SPI_GPIOs_RELAY_DRIVERS.SchDoc</a:t>
            </a:r>
            <a:r>
              <a:rPr lang="en-US" sz="2000" dirty="0" smtClean="0"/>
              <a:t> schematic page)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1219199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Note (logical) Ref Designators shown are not what is (physically) silkscreened on PCB</a:t>
            </a:r>
          </a:p>
          <a:p>
            <a:r>
              <a:rPr lang="en-US" dirty="0" smtClean="0"/>
              <a:t>CS”A”  (Chip Select “A”) is either CS 0 (Left Channel) or CS4 (Right Channel) on PORTA of PIC, when design is expanded into two-channel design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514600"/>
            <a:ext cx="851941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2" name="Group 11"/>
          <p:cNvGrpSpPr/>
          <p:nvPr/>
        </p:nvGrpSpPr>
        <p:grpSpPr>
          <a:xfrm>
            <a:off x="3810000" y="3886199"/>
            <a:ext cx="3276600" cy="2851841"/>
            <a:chOff x="3810000" y="3886199"/>
            <a:chExt cx="3276600" cy="2851841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3886199"/>
              <a:ext cx="3200400" cy="285184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7" name="Oval 6"/>
            <p:cNvSpPr/>
            <p:nvPr/>
          </p:nvSpPr>
          <p:spPr>
            <a:xfrm>
              <a:off x="3810000" y="3886200"/>
              <a:ext cx="990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810000" y="5791200"/>
              <a:ext cx="990600" cy="3048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Straight Arrow Connector 9"/>
          <p:cNvCxnSpPr/>
          <p:nvPr/>
        </p:nvCxnSpPr>
        <p:spPr>
          <a:xfrm>
            <a:off x="6172200" y="2438400"/>
            <a:ext cx="1219200" cy="533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Next bank of </a:t>
            </a:r>
            <a:r>
              <a:rPr lang="en-US" dirty="0" err="1" smtClean="0"/>
              <a:t>Exar</a:t>
            </a:r>
            <a:r>
              <a:rPr lang="en-US" dirty="0" smtClean="0"/>
              <a:t> chips, GPIO expansion…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 smtClean="0"/>
              <a:t>CS”B” is CS1 (Left </a:t>
            </a:r>
            <a:r>
              <a:rPr lang="en-US" dirty="0" err="1" smtClean="0"/>
              <a:t>ch</a:t>
            </a:r>
            <a:r>
              <a:rPr lang="en-US" dirty="0" smtClean="0"/>
              <a:t>.) or CS5 (right channel) on PORTA of PIC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895600"/>
            <a:ext cx="8224838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7" name="Straight Arrow Connector 6"/>
          <p:cNvCxnSpPr/>
          <p:nvPr/>
        </p:nvCxnSpPr>
        <p:spPr>
          <a:xfrm flipH="1" flipV="1">
            <a:off x="5334000" y="5410200"/>
            <a:ext cx="76200" cy="4572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/>
        </p:nvGrpSpPr>
        <p:grpSpPr>
          <a:xfrm>
            <a:off x="228600" y="3657600"/>
            <a:ext cx="3276600" cy="2851841"/>
            <a:chOff x="3810000" y="3886199"/>
            <a:chExt cx="3276600" cy="2851841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3886199"/>
              <a:ext cx="3200400" cy="285184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Oval 9"/>
            <p:cNvSpPr/>
            <p:nvPr/>
          </p:nvSpPr>
          <p:spPr>
            <a:xfrm>
              <a:off x="3810000" y="4038599"/>
              <a:ext cx="990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810000" y="5943599"/>
              <a:ext cx="990600" cy="3048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3352800" y="5867400"/>
            <a:ext cx="3276600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This is an INPUT from front panel switches  (we ran out of inputs on previous Input GPIO bank)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1295400" y="2133600"/>
            <a:ext cx="304800" cy="91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10400" y="2286000"/>
            <a:ext cx="1676400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Relay Drivers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467600" y="2667000"/>
            <a:ext cx="533400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2819400"/>
            <a:ext cx="1295400" cy="36576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802412"/>
            <a:ext cx="8534400" cy="375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Next bank of </a:t>
            </a:r>
            <a:r>
              <a:rPr lang="en-US" dirty="0" err="1" smtClean="0"/>
              <a:t>Exar</a:t>
            </a:r>
            <a:r>
              <a:rPr lang="en-US" dirty="0" smtClean="0"/>
              <a:t> chips, GPIO expansion…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 smtClean="0"/>
              <a:t>CS”C” is CS2 (Left </a:t>
            </a:r>
            <a:r>
              <a:rPr lang="en-US" dirty="0" err="1" smtClean="0"/>
              <a:t>ch</a:t>
            </a:r>
            <a:r>
              <a:rPr lang="en-US" dirty="0" smtClean="0"/>
              <a:t>.) or CS6 (right channel) on PIC</a:t>
            </a:r>
            <a:endParaRPr lang="en-US" dirty="0"/>
          </a:p>
        </p:txBody>
      </p:sp>
      <p:grpSp>
        <p:nvGrpSpPr>
          <p:cNvPr id="4" name="Group 7"/>
          <p:cNvGrpSpPr/>
          <p:nvPr/>
        </p:nvGrpSpPr>
        <p:grpSpPr>
          <a:xfrm>
            <a:off x="228600" y="3657600"/>
            <a:ext cx="3276600" cy="2851841"/>
            <a:chOff x="3810000" y="3886199"/>
            <a:chExt cx="3276600" cy="2851841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3886199"/>
              <a:ext cx="3200400" cy="285184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Oval 9"/>
            <p:cNvSpPr/>
            <p:nvPr/>
          </p:nvSpPr>
          <p:spPr>
            <a:xfrm>
              <a:off x="3810000" y="4190999"/>
              <a:ext cx="990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810000" y="6073139"/>
              <a:ext cx="990600" cy="3048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>
            <a:off x="1295400" y="2133600"/>
            <a:ext cx="304800" cy="9144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10400" y="2286000"/>
            <a:ext cx="1676400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Relay Drivers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7467600" y="2667000"/>
            <a:ext cx="533400" cy="3048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0" y="2819400"/>
            <a:ext cx="1295400" cy="3657600"/>
          </a:xfrm>
          <a:prstGeom prst="round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3200400"/>
            <a:ext cx="9067800" cy="3112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Last bank of </a:t>
            </a:r>
            <a:r>
              <a:rPr lang="en-US" dirty="0" err="1" smtClean="0"/>
              <a:t>Exar</a:t>
            </a:r>
            <a:r>
              <a:rPr lang="en-US" dirty="0" smtClean="0"/>
              <a:t> chips, GPIO expansion…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r>
              <a:rPr lang="en-US" dirty="0" smtClean="0"/>
              <a:t>CS”D” is CS3 (Left </a:t>
            </a:r>
            <a:r>
              <a:rPr lang="en-US" dirty="0" err="1" smtClean="0"/>
              <a:t>ch</a:t>
            </a:r>
            <a:r>
              <a:rPr lang="en-US" dirty="0" smtClean="0"/>
              <a:t>.) or CS7 (right channel) on PIC</a:t>
            </a:r>
            <a:endParaRPr lang="en-US" dirty="0"/>
          </a:p>
        </p:txBody>
      </p:sp>
      <p:grpSp>
        <p:nvGrpSpPr>
          <p:cNvPr id="4" name="Group 7"/>
          <p:cNvGrpSpPr/>
          <p:nvPr/>
        </p:nvGrpSpPr>
        <p:grpSpPr>
          <a:xfrm>
            <a:off x="228600" y="3657600"/>
            <a:ext cx="3276600" cy="2851841"/>
            <a:chOff x="3810000" y="3886199"/>
            <a:chExt cx="3276600" cy="2851841"/>
          </a:xfrm>
        </p:grpSpPr>
        <p:pic>
          <p:nvPicPr>
            <p:cNvPr id="9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886200" y="3886199"/>
              <a:ext cx="3200400" cy="285184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88900" cap="sq">
              <a:solidFill>
                <a:srgbClr val="FFFFFF"/>
              </a:solidFill>
              <a:miter lim="800000"/>
            </a:ln>
            <a:effectLst>
              <a:outerShdw blurRad="55000" dist="18000" dir="5400000" algn="tl" rotWithShape="0">
                <a:srgbClr val="000000">
                  <a:alpha val="40000"/>
                </a:srgbClr>
              </a:outerShdw>
            </a:effectLst>
            <a:scene3d>
              <a:camera prst="orthographicFront"/>
              <a:lightRig rig="twoPt" dir="t">
                <a:rot lat="0" lon="0" rev="7200000"/>
              </a:lightRig>
            </a:scene3d>
            <a:sp3d>
              <a:bevelT w="25400" h="19050"/>
              <a:contourClr>
                <a:srgbClr val="FFFFFF"/>
              </a:contourClr>
            </a:sp3d>
          </p:spPr>
        </p:pic>
        <p:sp>
          <p:nvSpPr>
            <p:cNvPr id="10" name="Oval 9"/>
            <p:cNvSpPr/>
            <p:nvPr/>
          </p:nvSpPr>
          <p:spPr>
            <a:xfrm>
              <a:off x="3810000" y="4343399"/>
              <a:ext cx="990600" cy="3048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810000" y="6248399"/>
              <a:ext cx="990600" cy="304800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" name="Straight Arrow Connector 12"/>
          <p:cNvCxnSpPr/>
          <p:nvPr/>
        </p:nvCxnSpPr>
        <p:spPr>
          <a:xfrm flipH="1">
            <a:off x="685800" y="2133600"/>
            <a:ext cx="609600" cy="121920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24600" y="2438400"/>
            <a:ext cx="1676400" cy="92333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/>
              <a:t>To relay drivers for Rear IO attenuator/pad</a:t>
            </a:r>
            <a:endParaRPr lang="en-US" dirty="0"/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8001000" y="3200400"/>
            <a:ext cx="914400" cy="76200"/>
          </a:xfrm>
          <a:prstGeom prst="straightConnector1">
            <a:avLst/>
          </a:prstGeom>
          <a:ln w="38100"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334000" y="6324600"/>
            <a:ext cx="3657600" cy="36933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dirty="0" smtClean="0"/>
              <a:t>Optional 7-segment LED for debug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440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P331 GPIO expansion chips</vt:lpstr>
      <vt:lpstr>P331</vt:lpstr>
      <vt:lpstr>Slide 3</vt:lpstr>
      <vt:lpstr>Micro Controller Unit (MCU) PIC chip close up PORTA for chip selects</vt:lpstr>
      <vt:lpstr>Slide 5</vt:lpstr>
      <vt:lpstr>Slide 6</vt:lpstr>
      <vt:lpstr>Exar GPIO expansion chip for Front Panel user Input on front panel switches  (Line Amp, Relay Drivers : SPI_GPIOs_RELAY_DRIVERS.SchDoc schematic page)</vt:lpstr>
      <vt:lpstr>Next bank of Exar chips, GPIO expansion…</vt:lpstr>
      <vt:lpstr>Next bank of Exar chips, GPIO expansion…</vt:lpstr>
      <vt:lpstr>Last bank of Exar chips, GPIO expansion…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Regis Philbin</dc:creator>
  <cp:lastModifiedBy>_</cp:lastModifiedBy>
  <cp:revision>26</cp:revision>
  <dcterms:created xsi:type="dcterms:W3CDTF">2017-09-25T20:09:14Z</dcterms:created>
  <dcterms:modified xsi:type="dcterms:W3CDTF">2017-11-11T18:45:43Z</dcterms:modified>
</cp:coreProperties>
</file>